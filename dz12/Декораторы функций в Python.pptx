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05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5" r:id="rId19"/>
  </p:sldIdLst>
  <p:sldSz cx="9144000" cy="5143500" type="screen16x9"/>
  <p:notesSz cx="51435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04012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E03427-C6D5-423A-A274-931828B777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872B374-1C3D-4C64-8B27-4FF7F9B2EF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B2A81F9-CBAE-43A0-A787-744F09E0C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0490E-8A7F-4F90-B804-EB02BF8FE45C}" type="datetimeFigureOut">
              <a:rPr lang="ru-RU" smtClean="0"/>
              <a:t>31.01.2026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8FD5713-CE26-4441-917D-943BBAF5D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BC722EC-9A11-4A5E-BA9D-4856B7316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71A6-AA16-4C6B-BF8D-B0B9F6743B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860794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00FCC0-F032-47C2-B68A-05FBF6364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991D6D9-FB8A-43E4-8CAE-D86D57F096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66BD1C7-A9C2-4D54-BB43-171820F32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0490E-8A7F-4F90-B804-EB02BF8FE45C}" type="datetimeFigureOut">
              <a:rPr lang="ru-RU" smtClean="0"/>
              <a:t>31.01.2026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EBCF294-D5DC-461B-BFF3-BD81A7460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0B4C7FE-2EDF-4142-87A3-0067D2ED1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71A6-AA16-4C6B-BF8D-B0B9F6743B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339501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844C26-CFD5-4A2E-BA8D-84F297C49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C2BD27F-C876-4225-AEFF-1436FB51FB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3F7E464-D957-47DD-A4C1-C2533B4B8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0490E-8A7F-4F90-B804-EB02BF8FE45C}" type="datetimeFigureOut">
              <a:rPr lang="ru-RU" smtClean="0"/>
              <a:t>31.01.2026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E1231D4-589C-4788-AA83-64D1A3E0D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777BB9D-03B2-4D81-A3E2-7A2BA29EA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71A6-AA16-4C6B-BF8D-B0B9F6743B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945917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EF908F-AD75-4267-9522-B040424EF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EE6C405-9AC0-4D65-B1B1-7CA967DEF2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9F67C2E-D826-497B-99C2-CB6A7B4878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E845361-5294-4F80-881F-7ED43F796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0490E-8A7F-4F90-B804-EB02BF8FE45C}" type="datetimeFigureOut">
              <a:rPr lang="ru-RU" smtClean="0"/>
              <a:t>31.01.2026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E49F361-D1DF-4345-90ED-0137EC2E7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F701DC9-C68E-453A-8D60-34A8346C8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71A6-AA16-4C6B-BF8D-B0B9F6743B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609310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7F5083-5CF9-4BAA-A246-B885F44CA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C7FEA4D-8EA2-44FE-B21B-8DC8427AC3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D9619F6-5025-421C-8A52-F5BFC8AD19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FC9130C-5888-4E8C-B1DC-3EBF5846FD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B216EFD-155A-4F3B-B2BA-DFA722959E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D2A84E6-4430-4185-B4BC-35406CEA3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0490E-8A7F-4F90-B804-EB02BF8FE45C}" type="datetimeFigureOut">
              <a:rPr lang="ru-RU" smtClean="0"/>
              <a:t>31.01.2026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DBABD7F-F54F-4ED8-8174-9E2AE7486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3A5E2A8-5F34-40B7-A45B-2C63D9A2B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71A6-AA16-4C6B-BF8D-B0B9F6743B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890951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CB2AB1-E1BF-4D94-8EAA-C3B10B29A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67A73EA-648E-4D6A-8DAD-A841F56D9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0490E-8A7F-4F90-B804-EB02BF8FE45C}" type="datetimeFigureOut">
              <a:rPr lang="ru-RU" smtClean="0"/>
              <a:t>31.01.2026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1D3CC6E-D95E-4E75-8900-E3FF48116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E6388F3-ABA4-4FB7-8F08-C73426318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71A6-AA16-4C6B-BF8D-B0B9F6743B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502377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C660E8A-96C2-4558-B7F6-DAC44860B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0490E-8A7F-4F90-B804-EB02BF8FE45C}" type="datetimeFigureOut">
              <a:rPr lang="ru-RU" smtClean="0"/>
              <a:t>31.01.2026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107673A-4E58-43D8-A0F2-8D43F9E8B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2F0DF30-5580-42D6-9E81-34E8707B5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71A6-AA16-4C6B-BF8D-B0B9F6743B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549031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008A26-33D9-4632-AF66-AFC453E09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35C60AF-B44A-4D5E-8335-DD605407F9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DD2409F-C241-437C-8C07-C0225C3FB7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971905E-A7C0-4B28-9CA3-249A428E7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0490E-8A7F-4F90-B804-EB02BF8FE45C}" type="datetimeFigureOut">
              <a:rPr lang="ru-RU" smtClean="0"/>
              <a:t>31.01.2026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0D09C1F-8F61-42FF-9BDA-47E145B5C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FE32EF6-081A-4195-8CBE-5921B626F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71A6-AA16-4C6B-BF8D-B0B9F6743B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802266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4B953A-46E9-4AB9-8AE9-B3ACF774F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CA6AE9E-FD18-46D1-90A6-675FC3B56F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77D33D8-1B56-421C-A7A7-0BA0A1CA3E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3973D49-75CF-4CD7-862B-974797B0B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0490E-8A7F-4F90-B804-EB02BF8FE45C}" type="datetimeFigureOut">
              <a:rPr lang="ru-RU" smtClean="0"/>
              <a:t>31.01.2026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2E69C96-C40B-443C-8EBF-28D95D2DB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7C60916-5D5A-4AFF-8BF3-D5F77DE95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71A6-AA16-4C6B-BF8D-B0B9F6743B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169228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AF4C4A-28AD-4205-9556-88A4D4328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EBFE579-3469-465C-8908-B921B7A2E1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4DEF673-FCED-4B6E-99BF-107FF9D63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0490E-8A7F-4F90-B804-EB02BF8FE45C}" type="datetimeFigureOut">
              <a:rPr lang="ru-RU" smtClean="0"/>
              <a:t>31.01.2026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8557EF1-CD93-4B20-A973-E81590CF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3F8D203-65BC-483F-A030-516679B37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71A6-AA16-4C6B-BF8D-B0B9F6743B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344730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5BF1DF1-FACD-4E64-B431-CB6D79734A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DE76729-CA35-4357-BF7D-EB6E100144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438576B-D125-4940-AA22-1FBD57BF8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0490E-8A7F-4F90-B804-EB02BF8FE45C}" type="datetimeFigureOut">
              <a:rPr lang="ru-RU" smtClean="0"/>
              <a:t>31.01.2026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7FE6DDA-229B-46A3-8FF6-274E03AEE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5BE9616-1C11-41FA-97EB-9FE44C174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71A6-AA16-4C6B-BF8D-B0B9F6743B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498138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1309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3B851E-B980-4023-A821-E82B2D826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A2FC2BE-92AE-4CA6-903B-866B3DAFBC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646FAA3-65D1-490C-BC5A-021F7EB72B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20490E-8A7F-4F90-B804-EB02BF8FE45C}" type="datetimeFigureOut">
              <a:rPr lang="ru-RU" smtClean="0"/>
              <a:t>31.01.2026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0E10C90-F1CC-4D4C-84AF-63AFB8E188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3688592-B9B9-4AE6-8777-D4A87CDC56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3671A6-AA16-4C6B-BF8D-B0B9F6743B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36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807" r:id="rId2"/>
    <p:sldLayoutId id="2147483808" r:id="rId3"/>
    <p:sldLayoutId id="2147483809" r:id="rId4"/>
    <p:sldLayoutId id="2147483810" r:id="rId5"/>
    <p:sldLayoutId id="2147483811" r:id="rId6"/>
    <p:sldLayoutId id="2147483812" r:id="rId7"/>
    <p:sldLayoutId id="2147483813" r:id="rId8"/>
    <p:sldLayoutId id="2147483814" r:id="rId9"/>
    <p:sldLayoutId id="2147483815" r:id="rId10"/>
    <p:sldLayoutId id="2147483816" r:id="rId11"/>
    <p:sldLayoutId id="2147483817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1455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Декораторы в Python</a:t>
            </a:r>
            <a:endParaRPr lang="en-US" sz="4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3E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Что такое декоратор?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498DB"/>
                </a:solidFill>
              </a:rPr>
              <a:t>Простыми словами: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1645920"/>
          </a:xfrm>
          <a:prstGeom prst="rect">
            <a:avLst/>
          </a:prstGeom>
          <a:solidFill>
            <a:srgbClr val="FFF9C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188720" y="164592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</a:rPr>
              <a:t>Представь подарок: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>
              <a:buSzPct val="100000"/>
            </a:pPr>
            <a:r>
              <a:rPr lang="en-US" sz="1400" dirty="0">
                <a:solidFill>
                  <a:srgbClr val="2C3E50"/>
                </a:solidFill>
              </a:rPr>
              <a:t>• Сам подарок = твоя функция</a:t>
            </a:r>
            <a:endParaRPr lang="en-US" sz="1600" dirty="0"/>
          </a:p>
          <a:p>
            <a:pPr>
              <a:buSzPct val="100000"/>
            </a:pPr>
            <a:r>
              <a:rPr lang="en-US" sz="1400" dirty="0">
                <a:solidFill>
                  <a:srgbClr val="2C3E50"/>
                </a:solidFill>
              </a:rPr>
              <a:t>• Красивая упаковка = декоратор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400" i="1" dirty="0">
                <a:solidFill>
                  <a:srgbClr val="2C3E50"/>
                </a:solidFill>
              </a:rPr>
              <a:t>Подарок остаётся тем же, но упаковка делает его красивее!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498DB"/>
                </a:solidFill>
              </a:rPr>
              <a:t> Декоратор = обёртка для функции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C3E50"/>
                </a:solidFill>
              </a:rPr>
              <a:t>Он добавляет функции новые возможности, не меняя её код!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8067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3E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Проблема: код без декораторов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E74C3C"/>
                </a:solidFill>
              </a:rPr>
              <a:t>Нужно</a:t>
            </a:r>
            <a:r>
              <a:rPr lang="en-US" sz="1600" b="1" dirty="0">
                <a:solidFill>
                  <a:srgbClr val="E74C3C"/>
                </a:solidFill>
              </a:rPr>
              <a:t> добавить логирование к 10 функциям: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2377440"/>
          </a:xfrm>
          <a:prstGeom prst="rect">
            <a:avLst/>
          </a:prstGeom>
          <a:solidFill>
            <a:srgbClr val="E8EAF6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508760"/>
            <a:ext cx="7955280" cy="20116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calculate_sum(a, b):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print("Начинаем </a:t>
            </a:r>
            <a:r>
              <a:rPr lang="en-US" sz="1100" dirty="0" err="1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calculate_sum</a:t>
            </a: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a + b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print("Закончили </a:t>
            </a:r>
            <a:r>
              <a:rPr lang="en-US" sz="1100" dirty="0" err="1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calculate_sum</a:t>
            </a: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") 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result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calculate_product(a, b):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print("Начинаем </a:t>
            </a:r>
            <a:r>
              <a:rPr lang="en-US" sz="1100" dirty="0" err="1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calculate_product</a:t>
            </a: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") 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a * b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print("Закончили calculate_product") 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result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И так для КАЖДОЙ функции... 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E74C3C"/>
                </a:solidFill>
              </a:rPr>
              <a:t>Проблемы</a:t>
            </a:r>
            <a:r>
              <a:rPr lang="en-US" sz="1500" b="1" dirty="0">
                <a:solidFill>
                  <a:srgbClr val="E74C3C"/>
                </a:solidFill>
              </a:rPr>
              <a:t>: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2062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r>
              <a:rPr lang="en-US" sz="1300" dirty="0">
                <a:solidFill>
                  <a:srgbClr val="2C3E50"/>
                </a:solidFill>
              </a:rPr>
              <a:t>• Много повторяющегося кода</a:t>
            </a:r>
            <a:endParaRPr lang="en-US" sz="1300" dirty="0"/>
          </a:p>
          <a:p>
            <a:pPr>
              <a:buSzPct val="100000"/>
            </a:pPr>
            <a:r>
              <a:rPr lang="en-US" sz="1300" dirty="0">
                <a:solidFill>
                  <a:srgbClr val="2C3E50"/>
                </a:solidFill>
              </a:rPr>
              <a:t>• Трудно изменить логирование сразу везде</a:t>
            </a:r>
            <a:endParaRPr lang="en-US" sz="1300" dirty="0"/>
          </a:p>
          <a:p>
            <a:pPr>
              <a:buSzPct val="100000"/>
            </a:pPr>
            <a:r>
              <a:rPr lang="en-US" sz="1300" dirty="0">
                <a:solidFill>
                  <a:srgbClr val="2C3E50"/>
                </a:solidFill>
              </a:rPr>
              <a:t>• </a:t>
            </a:r>
            <a:r>
              <a:rPr lang="ru-RU" sz="1300" dirty="0">
                <a:solidFill>
                  <a:srgbClr val="2C3E50"/>
                </a:solidFill>
              </a:rPr>
              <a:t>Л</a:t>
            </a:r>
            <a:r>
              <a:rPr lang="en-US" sz="1300" dirty="0" err="1">
                <a:solidFill>
                  <a:srgbClr val="2C3E50"/>
                </a:solidFill>
              </a:rPr>
              <a:t>огика</a:t>
            </a:r>
            <a:r>
              <a:rPr lang="en-US" sz="1300" dirty="0">
                <a:solidFill>
                  <a:srgbClr val="2C3E50"/>
                </a:solidFill>
              </a:rPr>
              <a:t> смешана с техническим кодом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3E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Решение: используем декоратор!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AE60"/>
                </a:solidFill>
              </a:rPr>
              <a:t>С декоратором всё просто: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486400" cy="3105150"/>
          </a:xfrm>
          <a:prstGeom prst="rect">
            <a:avLst/>
          </a:prstGeom>
          <a:solidFill>
            <a:srgbClr val="E8EAF6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508760"/>
            <a:ext cx="5212080" cy="21945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Один раз создаём декоратор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with_logging(func):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wrapper(a, b):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print(f"Начинаем {func.__name__}")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 = func(a, b)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print(f"Закончили {func.__name__}")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result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wrapper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Используем для любых функций!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@with_logging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calculate_sum(a, b):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 + b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@with_logging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calculate_product(a, b):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 * b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126480" y="1371600"/>
            <a:ext cx="2560320" cy="246888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0" y="14630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AE60"/>
                </a:solidFill>
              </a:rPr>
              <a:t> Преимущества: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09360" y="182880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✓ Код не повторяется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✓ Легко изменить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✓ Чистый код функций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✓ Одна строка @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 err="1">
                <a:solidFill>
                  <a:srgbClr val="3498DB"/>
                </a:solidFill>
              </a:rPr>
              <a:t>Написали</a:t>
            </a:r>
            <a:r>
              <a:rPr lang="en-US" sz="1400" i="1" dirty="0">
                <a:solidFill>
                  <a:srgbClr val="3498DB"/>
                </a:solidFill>
              </a:rPr>
              <a:t> декоратор один раз — используем везде!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3E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Как работает декоратор?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498DB"/>
                </a:solidFill>
              </a:rPr>
              <a:t>Пошагово: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286000" cy="64008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087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 err="1">
                <a:solidFill>
                  <a:srgbClr val="2C3E50"/>
                </a:solidFill>
              </a:rPr>
              <a:t>Исходная</a:t>
            </a:r>
            <a:r>
              <a:rPr lang="en-US" sz="1300" b="1" dirty="0">
                <a:solidFill>
                  <a:srgbClr val="2C3E50"/>
                </a:solidFill>
              </a:rPr>
              <a:t> функция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2286000" cy="548640"/>
          </a:xfrm>
          <a:prstGeom prst="rect">
            <a:avLst/>
          </a:prstGeom>
          <a:solidFill>
            <a:srgbClr val="E8EAF6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240280"/>
            <a:ext cx="2011680" cy="2743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greet():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print("Привет!")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834640" y="22860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498DB"/>
                </a:solidFill>
              </a:rPr>
              <a:t>➜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383280" y="1371600"/>
            <a:ext cx="2560320" cy="640080"/>
          </a:xfrm>
          <a:prstGeom prst="rect">
            <a:avLst/>
          </a:prstGeom>
          <a:solidFill>
            <a:srgbClr val="FFF9C4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5087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 err="1">
                <a:solidFill>
                  <a:srgbClr val="2C3E50"/>
                </a:solidFill>
              </a:rPr>
              <a:t>Добавляем</a:t>
            </a:r>
            <a:r>
              <a:rPr lang="en-US" sz="1300" b="1" dirty="0">
                <a:solidFill>
                  <a:srgbClr val="2C3E50"/>
                </a:solidFill>
              </a:rPr>
              <a:t> @декоратор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83280" y="2103120"/>
            <a:ext cx="2560320" cy="731520"/>
          </a:xfrm>
          <a:prstGeom prst="rect">
            <a:avLst/>
          </a:prstGeom>
          <a:solidFill>
            <a:srgbClr val="E8EAF6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2240280"/>
            <a:ext cx="2286000" cy="2743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@with_stars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greet():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print("Привет!")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35040" y="22860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498DB"/>
                </a:solidFill>
              </a:rPr>
              <a:t>➜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6583680" y="1371600"/>
            <a:ext cx="2103120" cy="64008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0" y="15087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 err="1">
                <a:solidFill>
                  <a:srgbClr val="27AE60"/>
                </a:solidFill>
              </a:rPr>
              <a:t>Результат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583680" y="2103120"/>
            <a:ext cx="2103120" cy="777240"/>
          </a:xfrm>
          <a:prstGeom prst="rect">
            <a:avLst/>
          </a:prstGeom>
          <a:solidFill>
            <a:srgbClr val="E8EAF6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2240280"/>
            <a:ext cx="1828800" cy="457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greet()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**********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Привет!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**********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017520"/>
            <a:ext cx="8229600" cy="1371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1089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3498DB"/>
                </a:solidFill>
              </a:rPr>
              <a:t>Что</a:t>
            </a:r>
            <a:r>
              <a:rPr lang="en-US" sz="1500" b="1" dirty="0">
                <a:solidFill>
                  <a:srgbClr val="3498DB"/>
                </a:solidFill>
              </a:rPr>
              <a:t> происходит: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31520" y="34747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1. Декоратор "оборачивает" функцию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2. Добавляет звёздочки ДО и ПОСЛЕ вызова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3. Функция greet() остаётся без изменений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3E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Пример 1: Декоратор со звёздочками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5029200" cy="3017520"/>
          </a:xfrm>
          <a:prstGeom prst="rect">
            <a:avLst/>
          </a:prstGeom>
          <a:solidFill>
            <a:srgbClr val="E8EAF6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051560"/>
            <a:ext cx="4754880" cy="24688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Создаём декоратор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with_stars(func):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wrapper():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print("**********")    # ДО функции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func()                 # Вызываем функцию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print("**********")    # ПОСЛЕ функции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wrapper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Применяем декоратор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@with_stars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greet():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print("Привет, мир!")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Вызываем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greet()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0" y="9144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2C3E50"/>
                </a:solidFill>
              </a:rPr>
              <a:t>Результат</a:t>
            </a:r>
            <a:r>
              <a:rPr lang="en-US" sz="1400" b="1" dirty="0">
                <a:solidFill>
                  <a:srgbClr val="2C3E50"/>
                </a:solidFill>
              </a:rPr>
              <a:t>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0" y="1280160"/>
            <a:ext cx="3017520" cy="914400"/>
          </a:xfrm>
          <a:prstGeom prst="rect">
            <a:avLst/>
          </a:prstGeom>
          <a:solidFill>
            <a:srgbClr val="1E1E1E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0" y="137160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**********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Привет, мир!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**********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0" y="23774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3498DB"/>
                </a:solidFill>
              </a:rPr>
              <a:t>Что</a:t>
            </a:r>
            <a:r>
              <a:rPr lang="en-US" sz="1300" b="1" dirty="0">
                <a:solidFill>
                  <a:srgbClr val="3498DB"/>
                </a:solidFill>
              </a:rPr>
              <a:t> видим: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760720" y="27432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r>
              <a:rPr lang="en-US" sz="1200" dirty="0">
                <a:solidFill>
                  <a:srgbClr val="2C3E50"/>
                </a:solidFill>
              </a:rPr>
              <a:t>• Звёздочки появились автоматически</a:t>
            </a:r>
            <a:endParaRPr lang="en-US" sz="1200" dirty="0"/>
          </a:p>
          <a:p>
            <a:pPr>
              <a:buSzPct val="100000"/>
            </a:pPr>
            <a:r>
              <a:rPr lang="en-US" sz="1200" dirty="0">
                <a:solidFill>
                  <a:srgbClr val="2C3E50"/>
                </a:solidFill>
              </a:rPr>
              <a:t>• Код функции greet не менялся</a:t>
            </a:r>
            <a:endParaRPr lang="en-US" sz="1200" dirty="0"/>
          </a:p>
          <a:p>
            <a:pPr>
              <a:buSzPct val="100000"/>
            </a:pPr>
            <a:r>
              <a:rPr lang="en-US" sz="1200" dirty="0">
                <a:solidFill>
                  <a:srgbClr val="2C3E50"/>
                </a:solidFill>
              </a:rPr>
              <a:t>• Декоратор добавил "украшения"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043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 err="1">
                <a:solidFill>
                  <a:srgbClr val="3498DB"/>
                </a:solidFill>
              </a:rPr>
              <a:t>Функция</a:t>
            </a:r>
            <a:r>
              <a:rPr lang="en-US" sz="1300" i="1" dirty="0">
                <a:solidFill>
                  <a:srgbClr val="3498DB"/>
                </a:solidFill>
              </a:rPr>
              <a:t> делает своё дело, декоратор добавляет оформление!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3E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Что означает символ @?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498DB"/>
                </a:solidFill>
              </a:rPr>
              <a:t>@ — это просто сокращение!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931920" cy="1371600"/>
          </a:xfrm>
          <a:prstGeom prst="rect">
            <a:avLst/>
          </a:prstGeom>
          <a:solidFill>
            <a:srgbClr val="E8F5E9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AE60"/>
                </a:solidFill>
              </a:rPr>
              <a:t>С декоратором (@)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3657600" cy="731520"/>
          </a:xfrm>
          <a:prstGeom prst="rect">
            <a:avLst/>
          </a:prstGeom>
          <a:solidFill>
            <a:srgbClr val="E8EAF6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057400"/>
            <a:ext cx="3383280" cy="457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@with_stars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greet():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print("Привет!")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80560" y="210312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498DB"/>
                </a:solidFill>
              </a:rPr>
              <a:t>=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4754880" y="1463040"/>
            <a:ext cx="3931920" cy="1371600"/>
          </a:xfrm>
          <a:prstGeom prst="rect">
            <a:avLst/>
          </a:prstGeom>
          <a:solidFill>
            <a:srgbClr val="FFF9C4"/>
          </a:solidFill>
          <a:ln w="25400">
            <a:solidFill>
              <a:schemeClr val="accent2"/>
            </a:solidFill>
          </a:ln>
        </p:spPr>
      </p:sp>
      <p:sp>
        <p:nvSpPr>
          <p:cNvPr id="10" name="Text 8"/>
          <p:cNvSpPr/>
          <p:nvPr/>
        </p:nvSpPr>
        <p:spPr>
          <a:xfrm>
            <a:off x="4846320" y="15544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9C12"/>
                </a:solidFill>
              </a:rPr>
              <a:t>Без @ (длинный способ)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937760" y="1920240"/>
            <a:ext cx="3657600" cy="731520"/>
          </a:xfrm>
          <a:prstGeom prst="rect">
            <a:avLst/>
          </a:prstGeom>
          <a:solidFill>
            <a:srgbClr val="E8EAF6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74920" y="2057400"/>
            <a:ext cx="3383280" cy="457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greet():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print("Привет!")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 = with_stars(greet)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8229600" cy="137160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2004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3498DB"/>
                </a:solidFill>
              </a:rPr>
              <a:t>Проще</a:t>
            </a:r>
            <a:r>
              <a:rPr lang="en-US" sz="1500" b="1" dirty="0">
                <a:solidFill>
                  <a:srgbClr val="3498DB"/>
                </a:solidFill>
              </a:rPr>
              <a:t> говоря: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35661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</a:rPr>
              <a:t>@ — это просто удобная запись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Вместо того, чтобы писать greet = with_stars(greet),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Python позволяет написать просто @with_stars перед функцией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3E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Где это используется?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3498DB"/>
                </a:solidFill>
              </a:rPr>
              <a:t>В </a:t>
            </a:r>
            <a:r>
              <a:rPr lang="ru-RU" sz="1600" i="1" dirty="0">
                <a:solidFill>
                  <a:srgbClr val="3498DB"/>
                </a:solidFill>
              </a:rPr>
              <a:t>действующих</a:t>
            </a:r>
            <a:r>
              <a:rPr lang="en-US" sz="1600" i="1" dirty="0">
                <a:solidFill>
                  <a:srgbClr val="3498DB"/>
                </a:solidFill>
              </a:rPr>
              <a:t> проектах декораторы везде! 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931920" cy="1097280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544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4C3C"/>
                </a:solidFill>
              </a:rPr>
              <a:t>⏱️ Замер времени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Сколько времени работает функция?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463040"/>
            <a:ext cx="3931920" cy="109728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15544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AE60"/>
                </a:solidFill>
              </a:rPr>
              <a:t>🔐 Проверка прав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46320" y="187452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Может ли пользователь вызвать функцию?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3931920" cy="1097280"/>
          </a:xfrm>
          <a:prstGeom prst="rect">
            <a:avLst/>
          </a:prstGeom>
          <a:solidFill>
            <a:srgbClr val="FFF9C4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8346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9C12"/>
                </a:solidFill>
              </a:rPr>
              <a:t>📝 Логирование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31546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Записать в лог, что функция вызвана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2743200"/>
            <a:ext cx="3931920" cy="1097280"/>
          </a:xfrm>
          <a:prstGeom prst="rect">
            <a:avLst/>
          </a:prstGeom>
          <a:solidFill>
            <a:srgbClr val="E1F5FE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28346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98DB"/>
                </a:solidFill>
              </a:rPr>
              <a:t>💾 Кеширование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0" y="31546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Сохранить результат, чтобы не считать заново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3498DB"/>
                </a:solidFill>
              </a:rPr>
              <a:t>Декораторы</a:t>
            </a:r>
            <a:r>
              <a:rPr lang="en-US" sz="1400" b="1" dirty="0">
                <a:solidFill>
                  <a:srgbClr val="3498DB"/>
                </a:solidFill>
              </a:rPr>
              <a:t> решают типичные задачи одной строкой!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3E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Пример 2: Замер времени </a:t>
            </a:r>
            <a:r>
              <a:rPr lang="en-US" sz="2800" b="1" dirty="0" err="1">
                <a:solidFill>
                  <a:srgbClr val="2C3E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работы</a:t>
            </a:r>
            <a:r>
              <a:rPr lang="en-US" sz="2800" b="1" dirty="0">
                <a:solidFill>
                  <a:srgbClr val="2C3E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5486400" cy="2994660"/>
          </a:xfrm>
          <a:prstGeom prst="rect">
            <a:avLst/>
          </a:prstGeom>
          <a:solidFill>
            <a:srgbClr val="E8EAF6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051560"/>
            <a:ext cx="5212080" cy="22860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time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measure_time(func):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wrapper():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start = time.time()           # Запомнили время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func()                         # Выполнили функцию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end = time.time()              # Время после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print(f"Заняло: {end - start:.2f} сек")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wrapper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@measure_time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slow_function():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time.sleep(2)  # </a:t>
            </a:r>
            <a:r>
              <a:rPr lang="ru-RU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Ждем</a:t>
            </a: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секунды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print("Работа выполнена!")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slow_function()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126480" y="9144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000000"/>
                </a:solidFill>
              </a:rPr>
              <a:t>Вывод</a:t>
            </a:r>
            <a:r>
              <a:rPr lang="en-US" sz="1400" b="1" dirty="0">
                <a:solidFill>
                  <a:srgbClr val="000000"/>
                </a:solidFill>
              </a:rPr>
              <a:t>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126480" y="1280160"/>
            <a:ext cx="2560320" cy="731520"/>
          </a:xfrm>
          <a:prstGeom prst="rect">
            <a:avLst/>
          </a:prstGeom>
          <a:solidFill>
            <a:srgbClr val="1E1E1E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0" y="13716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Работа выполнена!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Заняло: 2.00 сек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126480" y="21945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3498DB"/>
                </a:solidFill>
              </a:rPr>
              <a:t>Преимущество</a:t>
            </a:r>
            <a:r>
              <a:rPr lang="en-US" sz="1300" b="1" dirty="0">
                <a:solidFill>
                  <a:srgbClr val="3498DB"/>
                </a:solidFill>
              </a:rPr>
              <a:t>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2560320"/>
            <a:ext cx="2560320" cy="91440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0" y="26517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Не нужно добавлять код замера в каждую функцию!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</a:rPr>
              <a:t>Просто пишем @measure_time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09321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 err="1">
                <a:solidFill>
                  <a:srgbClr val="3498DB"/>
                </a:solidFill>
              </a:rPr>
              <a:t>Отличный</a:t>
            </a:r>
            <a:r>
              <a:rPr lang="en-US" sz="1300" i="1" dirty="0">
                <a:solidFill>
                  <a:srgbClr val="3498DB"/>
                </a:solidFill>
              </a:rPr>
              <a:t> способ найти медленные функции!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3E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Пример 3: </a:t>
            </a:r>
            <a:r>
              <a:rPr lang="en-US" sz="2800" b="1" dirty="0" err="1">
                <a:solidFill>
                  <a:srgbClr val="2C3E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Повторить</a:t>
            </a:r>
            <a:r>
              <a:rPr lang="en-US" sz="2800" b="1" dirty="0">
                <a:solidFill>
                  <a:srgbClr val="2C3E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2800" b="1" dirty="0" err="1">
                <a:solidFill>
                  <a:srgbClr val="2C3E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действие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5029200" cy="2508250"/>
          </a:xfrm>
          <a:prstGeom prst="rect">
            <a:avLst/>
          </a:prstGeom>
          <a:solidFill>
            <a:srgbClr val="E8EAF6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051560"/>
            <a:ext cx="4754880" cy="20116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repeat_3_times(func):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wrapper():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i in range(3):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print(f"--- Раз {i+1} ---")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func()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wrapper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@repeat_3_times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say_hello():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print("Привет!")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say_hello()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0" y="9144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000000"/>
                </a:solidFill>
              </a:rPr>
              <a:t>Вывод</a:t>
            </a:r>
            <a:r>
              <a:rPr lang="en-US" sz="1400" b="1" dirty="0">
                <a:solidFill>
                  <a:srgbClr val="000000"/>
                </a:solidFill>
              </a:rPr>
              <a:t>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0" y="1280160"/>
            <a:ext cx="3017520" cy="1371600"/>
          </a:xfrm>
          <a:prstGeom prst="rect">
            <a:avLst/>
          </a:prstGeom>
          <a:solidFill>
            <a:srgbClr val="1E1E1E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0" y="137160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 Раз 1 ---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Привет!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 Раз 2 ---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Привет!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 Раз 3 ---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Привет!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0" y="28346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3498DB"/>
                </a:solidFill>
              </a:rPr>
              <a:t>Использование</a:t>
            </a:r>
            <a:r>
              <a:rPr lang="en-US" sz="1300" b="1" dirty="0">
                <a:solidFill>
                  <a:srgbClr val="3498DB"/>
                </a:solidFill>
              </a:rPr>
              <a:t>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760720" y="32004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r>
              <a:rPr lang="en-US" sz="1200" dirty="0">
                <a:solidFill>
                  <a:srgbClr val="2C3E50"/>
                </a:solidFill>
              </a:rPr>
              <a:t>• Повторные попытки при ошибках</a:t>
            </a:r>
            <a:endParaRPr lang="en-US" sz="1200" dirty="0"/>
          </a:p>
          <a:p>
            <a:pPr>
              <a:buSzPct val="100000"/>
            </a:pPr>
            <a:r>
              <a:rPr lang="en-US" sz="1200" dirty="0">
                <a:solidFill>
                  <a:srgbClr val="2C3E50"/>
                </a:solidFill>
              </a:rPr>
              <a:t>• Тестирование функций</a:t>
            </a:r>
            <a:endParaRPr lang="en-US" sz="1200" dirty="0"/>
          </a:p>
          <a:p>
            <a:pPr>
              <a:buSzPct val="100000"/>
            </a:pPr>
            <a:r>
              <a:rPr lang="en-US" sz="1200" dirty="0">
                <a:solidFill>
                  <a:srgbClr val="2C3E50"/>
                </a:solidFill>
              </a:rPr>
              <a:t>• Отправка уведомлений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0462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 err="1">
                <a:solidFill>
                  <a:srgbClr val="3498DB"/>
                </a:solidFill>
              </a:rPr>
              <a:t>Один</a:t>
            </a:r>
            <a:r>
              <a:rPr lang="en-US" sz="1300" i="1" dirty="0">
                <a:solidFill>
                  <a:srgbClr val="3498DB"/>
                </a:solidFill>
              </a:rPr>
              <a:t> декоратор — много применений!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3E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Декораторы с настройками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498DB"/>
                </a:solidFill>
              </a:rPr>
              <a:t>Можем задать, СКОЛЬКО раз повторить: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029200" cy="2468880"/>
          </a:xfrm>
          <a:prstGeom prst="rect">
            <a:avLst/>
          </a:prstGeom>
          <a:solidFill>
            <a:srgbClr val="E8EAF6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508760"/>
            <a:ext cx="4754880" cy="21945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repeat(times):  # Принимаем параметр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decorator(func):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def wrapper():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for i in range(times):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func()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wrapper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decorator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@repeat(times=5)  # Повторить 5 раз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say_hi():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print("Привет!")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say_hi()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0" y="13716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</a:rPr>
              <a:t> Вывод: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0" y="1737360"/>
            <a:ext cx="3017520" cy="1188720"/>
          </a:xfrm>
          <a:prstGeom prst="rect">
            <a:avLst/>
          </a:prstGeom>
          <a:solidFill>
            <a:srgbClr val="1E1E1E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0" y="182880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Привет!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Привет!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Привет!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Привет!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Привет!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0" y="31089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3498DB"/>
                </a:solidFill>
              </a:rPr>
              <a:t>Гибкость</a:t>
            </a:r>
            <a:r>
              <a:rPr lang="en-US" sz="1300" b="1" dirty="0">
                <a:solidFill>
                  <a:srgbClr val="3498DB"/>
                </a:solidFill>
              </a:rPr>
              <a:t>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760720" y="34747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@repeat(times=2)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@repeat(times=10)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@repeat(times=100)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 err="1">
                <a:solidFill>
                  <a:srgbClr val="3498DB"/>
                </a:solidFill>
              </a:rPr>
              <a:t>Можем</a:t>
            </a:r>
            <a:r>
              <a:rPr lang="en-US" sz="1300" i="1" dirty="0">
                <a:solidFill>
                  <a:srgbClr val="3498DB"/>
                </a:solidFill>
              </a:rPr>
              <a:t> настраивать декоратор под задачу!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3E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Можно использовать несколько!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498DB"/>
                </a:solidFill>
              </a:rPr>
              <a:t>Декораторы работают как </a:t>
            </a:r>
            <a:r>
              <a:rPr lang="en-US" sz="1600" b="1" dirty="0" err="1">
                <a:solidFill>
                  <a:srgbClr val="3498DB"/>
                </a:solidFill>
              </a:rPr>
              <a:t>слои</a:t>
            </a:r>
            <a:r>
              <a:rPr lang="en-US" sz="1600" b="1" dirty="0">
                <a:solidFill>
                  <a:srgbClr val="3498DB"/>
                </a:solidFill>
              </a:rPr>
              <a:t> 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029200" cy="3695700"/>
          </a:xfrm>
          <a:prstGeom prst="rect">
            <a:avLst/>
          </a:prstGeom>
          <a:solidFill>
            <a:srgbClr val="E8EAF6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508760"/>
            <a:ext cx="4754880" cy="24688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add_stars(func):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wrapper():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print("***")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func()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print("***")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wrapper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add_dashes(func):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wrapper():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print("---")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func()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print("---")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wrapper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@add_stars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@add_dashes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greet():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print("Привет!")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greet()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0" y="13716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000000"/>
                </a:solidFill>
              </a:rPr>
              <a:t>Вывод</a:t>
            </a:r>
            <a:r>
              <a:rPr lang="en-US" sz="1400" b="1" dirty="0">
                <a:solidFill>
                  <a:srgbClr val="000000"/>
                </a:solidFill>
              </a:rPr>
              <a:t>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0" y="1737360"/>
            <a:ext cx="3017520" cy="1188720"/>
          </a:xfrm>
          <a:prstGeom prst="rect">
            <a:avLst/>
          </a:prstGeom>
          <a:solidFill>
            <a:srgbClr val="1E1E1E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0" y="182880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***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Привет!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***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0" y="31089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3498DB"/>
                </a:solidFill>
              </a:rPr>
              <a:t>Порядок</a:t>
            </a:r>
            <a:r>
              <a:rPr lang="en-US" sz="1300" b="1" dirty="0">
                <a:solidFill>
                  <a:srgbClr val="3498DB"/>
                </a:solidFill>
              </a:rPr>
              <a:t>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760720" y="347472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Сначала @add_dashes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Потом @add_stars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2C3E50"/>
                </a:solidFill>
              </a:rPr>
              <a:t>Как матрёшка! 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0602" y="241033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3E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Встроенные декораторы Python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46663" y="79110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3498DB"/>
                </a:solidFill>
              </a:rPr>
              <a:t>Python уже включает полезные декораторы! 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1222970"/>
            <a:ext cx="3931920" cy="1431608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205825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498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@property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548130" y="12115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</a:rPr>
              <a:t>Превращает метод в свойство (без скобок)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488718"/>
            <a:ext cx="3749040" cy="1165860"/>
          </a:xfrm>
          <a:prstGeom prst="rect">
            <a:avLst/>
          </a:prstGeom>
          <a:solidFill>
            <a:srgbClr val="E8EAF6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520150"/>
            <a:ext cx="3474720" cy="5486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Person: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@property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age(self):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25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= Person()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print(p.age)  # Без ()!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2" y="1216620"/>
            <a:ext cx="3931920" cy="1360170"/>
          </a:xfrm>
          <a:prstGeom prst="rect">
            <a:avLst/>
          </a:prstGeom>
          <a:solidFill>
            <a:srgbClr val="FFF9C4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205825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@staticmethod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277165" y="1217593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</a:rPr>
              <a:t>Метод, не зависящий от экземпляра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44254" y="1479510"/>
            <a:ext cx="3749040" cy="1097280"/>
          </a:xfrm>
          <a:prstGeom prst="rect">
            <a:avLst/>
          </a:prstGeom>
          <a:solidFill>
            <a:srgbClr val="E8EAF6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523008"/>
            <a:ext cx="3474720" cy="5486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Math: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@staticmethod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add(a, b):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a + b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print(Math.add(2, 3))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6877" y="2725844"/>
            <a:ext cx="8229600" cy="2181007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805854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@lru_cache - ускоритель! 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136008" y="2810954"/>
            <a:ext cx="353911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</a:rPr>
              <a:t>Запоминает результаты, чтобы не считать заново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199691"/>
            <a:ext cx="7772400" cy="1554480"/>
          </a:xfrm>
          <a:prstGeom prst="rect">
            <a:avLst/>
          </a:prstGeom>
          <a:solidFill>
            <a:srgbClr val="E8EAF6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7885" y="3254482"/>
            <a:ext cx="7498080" cy="9144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functools import lru_cache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@lru_cache  # Кэшируем результаты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slow_calculation(n):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time.sleep(1)  # Долгое вычисление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 * 2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print(slow_calculation(5))  # Ждём 1 сек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print(slow_calculation(5))  # Мгновенно! Взято из кэша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3E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Где вы это увидите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498DB"/>
                </a:solidFill>
              </a:rPr>
              <a:t>Примеры из популярных библиотек: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162052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66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498DB"/>
                </a:solidFill>
              </a:rPr>
              <a:t>Flask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668145"/>
            <a:ext cx="7772400" cy="1187450"/>
          </a:xfrm>
          <a:prstGeom prst="rect">
            <a:avLst/>
          </a:prstGeom>
          <a:solidFill>
            <a:srgbClr val="E8EAF6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8180" y="1737360"/>
            <a:ext cx="7498080" cy="5486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flask import Flask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Flask(__name__)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@app.route("/hello")  # Создаём страницу /hello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hello():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"Привет, это моя страница!"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3108960"/>
            <a:ext cx="8229600" cy="155194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1089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7AE60"/>
                </a:solidFill>
              </a:rPr>
              <a:t>Django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430270"/>
            <a:ext cx="7772400" cy="1097280"/>
          </a:xfrm>
          <a:prstGeom prst="rect">
            <a:avLst/>
          </a:prstGeom>
          <a:solidFill>
            <a:srgbClr val="E8EAF6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540760"/>
            <a:ext cx="7498080" cy="5486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django.contrib.auth.decorators import login_required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@login_required  # Только для авторизованных!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secret_page(request):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"Секретная информация"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681855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3498DB"/>
                </a:solidFill>
              </a:rPr>
              <a:t>Декораторы</a:t>
            </a:r>
            <a:r>
              <a:rPr lang="en-US" sz="1400" b="1" dirty="0">
                <a:solidFill>
                  <a:srgbClr val="3498DB"/>
                </a:solidFill>
              </a:rPr>
              <a:t> — основа современных Python-фреймворков!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E74C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Частые</a:t>
            </a:r>
            <a:r>
              <a:rPr lang="en-US" sz="2800" b="1" dirty="0">
                <a:solidFill>
                  <a:srgbClr val="E74C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ошибки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39"/>
            <a:ext cx="8229600" cy="1351915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4C3C"/>
                </a:solidFill>
              </a:rPr>
              <a:t>❌ Забыли return wrapper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490345"/>
            <a:ext cx="3657600" cy="786766"/>
          </a:xfrm>
          <a:prstGeom prst="rect">
            <a:avLst/>
          </a:prstGeom>
          <a:solidFill>
            <a:srgbClr val="E8EAF6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6600" y="1544636"/>
            <a:ext cx="3383280" cy="2743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my_decorator(func):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wrapper():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func()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Забыли return!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0" y="10972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AE60"/>
                </a:solidFill>
              </a:rPr>
              <a:t>✅ Правильно: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846320" y="1463039"/>
            <a:ext cx="3749040" cy="814071"/>
          </a:xfrm>
          <a:prstGeom prst="rect">
            <a:avLst/>
          </a:prstGeom>
          <a:solidFill>
            <a:srgbClr val="E8EAF6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83480" y="1539556"/>
            <a:ext cx="3474720" cy="2743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my_decorator(func):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wrapper():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func()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wrapper  # Важно!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438400"/>
            <a:ext cx="8229600" cy="1377950"/>
          </a:xfrm>
          <a:prstGeom prst="rect">
            <a:avLst/>
          </a:prstGeom>
          <a:solidFill>
            <a:srgbClr val="FFF9C4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525395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9C12"/>
                </a:solidFill>
              </a:rPr>
              <a:t>❌ Не передаём аргументы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2880360"/>
            <a:ext cx="3657600" cy="774700"/>
          </a:xfrm>
          <a:prstGeom prst="rect">
            <a:avLst/>
          </a:prstGeom>
          <a:solidFill>
            <a:srgbClr val="E8EAF6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993390"/>
            <a:ext cx="3383280" cy="2743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my_decorator(func):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wrapper():  # Нет args!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func()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25450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AE60"/>
                </a:solidFill>
              </a:rPr>
              <a:t>✅ Правильно: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46320" y="2880360"/>
            <a:ext cx="3749040" cy="774700"/>
          </a:xfrm>
          <a:prstGeom prst="rect">
            <a:avLst/>
          </a:prstGeom>
          <a:solidFill>
            <a:srgbClr val="E8EAF6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2998470"/>
            <a:ext cx="3474720" cy="2743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my_decorator(func):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wrapper(*args, **kwargs):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func(*args, **kwargs)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04495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3498DB"/>
                </a:solidFill>
              </a:rPr>
              <a:t>Совет</a:t>
            </a:r>
            <a:r>
              <a:rPr lang="en-US" sz="1400" b="1" dirty="0">
                <a:solidFill>
                  <a:srgbClr val="3498DB"/>
                </a:solidFill>
              </a:rPr>
              <a:t>: всегда используйте *args, **kwargs в wrapper!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450215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2C3E50"/>
                </a:solidFill>
              </a:rPr>
              <a:t>Так декоратор будет работать с любыми функциями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3E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Когда использовать декораторы?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017520"/>
          </a:xfrm>
          <a:prstGeom prst="rect">
            <a:avLst/>
          </a:prstGeom>
          <a:solidFill>
            <a:srgbClr val="E8F5E9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430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7AE60"/>
                </a:solidFill>
              </a:rPr>
              <a:t>✅ ИСПОЛЬЗУЙ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r>
              <a:rPr lang="en-US" sz="1300" dirty="0">
                <a:solidFill>
                  <a:srgbClr val="2C3E50"/>
                </a:solidFill>
              </a:rPr>
              <a:t>• Одинаковый код повторяется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>
              <a:buSzPct val="100000"/>
            </a:pPr>
            <a:r>
              <a:rPr lang="en-US" sz="1300" dirty="0">
                <a:solidFill>
                  <a:srgbClr val="2C3E50"/>
                </a:solidFill>
              </a:rPr>
              <a:t>• Нужно добавить функциональность ко многим функциям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>
              <a:buSzPct val="100000"/>
            </a:pPr>
            <a:r>
              <a:rPr lang="en-US" sz="1300" dirty="0">
                <a:solidFill>
                  <a:srgbClr val="2C3E50"/>
                </a:solidFill>
              </a:rPr>
              <a:t>• Логирование, время, проверки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>
              <a:buSzPct val="100000"/>
            </a:pPr>
            <a:r>
              <a:rPr lang="en-US" sz="1300" dirty="0">
                <a:solidFill>
                  <a:srgbClr val="2C3E50"/>
                </a:solidFill>
              </a:rPr>
              <a:t>• Код становится чище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931920" cy="3017520"/>
          </a:xfrm>
          <a:prstGeom prst="rect">
            <a:avLst/>
          </a:prstGeom>
          <a:solidFill>
            <a:srgbClr val="FFEBEE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0" y="11430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74C3C"/>
                </a:solidFill>
              </a:rPr>
              <a:t>❌ НЕ ИСПОЛЬЗУЙ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46320" y="1645920"/>
            <a:ext cx="37490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r>
              <a:rPr lang="en-US" sz="1300" dirty="0">
                <a:solidFill>
                  <a:srgbClr val="2C3E50"/>
                </a:solidFill>
              </a:rPr>
              <a:t>• Логика нужна только для одной функции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>
              <a:buSzPct val="100000"/>
            </a:pPr>
            <a:r>
              <a:rPr lang="en-US" sz="1300" dirty="0">
                <a:solidFill>
                  <a:srgbClr val="2C3E50"/>
                </a:solidFill>
              </a:rPr>
              <a:t>• Декоратор слишком сложный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>
              <a:buSzPct val="100000"/>
            </a:pPr>
            <a:r>
              <a:rPr lang="en-US" sz="1300" dirty="0">
                <a:solidFill>
                  <a:srgbClr val="2C3E50"/>
                </a:solidFill>
              </a:rPr>
              <a:t>• Можно решить проще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>
              <a:buSzPct val="100000"/>
            </a:pPr>
            <a:r>
              <a:rPr lang="en-US" sz="1300" dirty="0">
                <a:solidFill>
                  <a:srgbClr val="2C3E50"/>
                </a:solidFill>
              </a:rPr>
              <a:t>• Делает код менее понятным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 err="1">
                <a:solidFill>
                  <a:srgbClr val="3498DB"/>
                </a:solidFill>
              </a:rPr>
              <a:t>Правило</a:t>
            </a:r>
            <a:r>
              <a:rPr lang="en-US" sz="1300" i="1" dirty="0">
                <a:solidFill>
                  <a:srgbClr val="3498DB"/>
                </a:solidFill>
              </a:rPr>
              <a:t>: если код повторяется 3+ раза — используй декоратор!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2800" b="1" dirty="0">
                <a:solidFill>
                  <a:srgbClr val="2C3E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Ш</a:t>
            </a:r>
            <a:r>
              <a:rPr lang="en-US" sz="2800" b="1" dirty="0" err="1">
                <a:solidFill>
                  <a:srgbClr val="2C3E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аблон</a:t>
            </a:r>
            <a:r>
              <a:rPr lang="en-US" sz="2800" b="1" dirty="0">
                <a:solidFill>
                  <a:srgbClr val="2C3E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2800" b="1" dirty="0" err="1">
                <a:solidFill>
                  <a:srgbClr val="2C3E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декоратора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3498DB"/>
                </a:solidFill>
              </a:rPr>
              <a:t>Копируй</a:t>
            </a:r>
            <a:r>
              <a:rPr lang="en-US" sz="1600" b="1" dirty="0">
                <a:solidFill>
                  <a:srgbClr val="3498DB"/>
                </a:solidFill>
              </a:rPr>
              <a:t> и используй этот шаблон: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155448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98DB"/>
                </a:solidFill>
              </a:rPr>
              <a:t>Простой декоратор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749040" cy="1188720"/>
          </a:xfrm>
          <a:prstGeom prst="rect">
            <a:avLst/>
          </a:prstGeom>
          <a:solidFill>
            <a:srgbClr val="E8EAF6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2620" y="1760220"/>
            <a:ext cx="3474720" cy="8229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my_decorator(func):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wrapper(*args, **kwargs):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КОД ДО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 = func(*args, **kwargs)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КОД ПОСЛЕ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result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wrapper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3931920" cy="1554480"/>
          </a:xfrm>
          <a:prstGeom prst="rect">
            <a:avLst/>
          </a:prstGeom>
          <a:solidFill>
            <a:srgbClr val="FFF9C4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13741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9C12"/>
                </a:solidFill>
              </a:rPr>
              <a:t>С параметрами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46320" y="1668780"/>
            <a:ext cx="3749040" cy="1234440"/>
          </a:xfrm>
          <a:prstGeom prst="rect">
            <a:avLst/>
          </a:prstGeom>
          <a:solidFill>
            <a:srgbClr val="E8EAF6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748790"/>
            <a:ext cx="3474720" cy="8229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my_decorator(param):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decorator(func):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def wrapper(*args, **kwargs):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# КОД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func(*args, **kwargs)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wrapper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decorator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8229600" cy="189484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2004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AE60"/>
                </a:solidFill>
              </a:rPr>
              <a:t>Как использовать: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520440"/>
            <a:ext cx="7772400" cy="1400810"/>
          </a:xfrm>
          <a:prstGeom prst="rect">
            <a:avLst/>
          </a:prstGeom>
          <a:solidFill>
            <a:srgbClr val="E8EAF6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657600"/>
            <a:ext cx="7498080" cy="8229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@my_decorator           # Простой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function1():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pass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@my_decorator(param=5)  # С параметрами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function2():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pass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Что мы узнали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7315200" cy="2743200"/>
          </a:xfrm>
          <a:prstGeom prst="rect">
            <a:avLst/>
          </a:prstGeom>
          <a:solidFill>
            <a:schemeClr val="tx2">
              <a:lumMod val="60000"/>
              <a:lumOff val="40000"/>
              <a:alpha val="90000"/>
            </a:schemeClr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1554480"/>
            <a:ext cx="67665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✅ Декораторы = обёртки для функций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✅ @ — удобный синтаксис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✅ Убирают повторяющийся код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✅ Делают код чище и понятнее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✅ Используются во всех больших проектах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97</TotalTime>
  <Words>1624</Words>
  <Application>Microsoft Office PowerPoint</Application>
  <PresentationFormat>Экран (16:9)</PresentationFormat>
  <Paragraphs>378</Paragraphs>
  <Slides>18</Slides>
  <Notes>18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4" baseType="lpstr">
      <vt:lpstr>Arial</vt:lpstr>
      <vt:lpstr>Arial Black</vt:lpstr>
      <vt:lpstr>Calibri</vt:lpstr>
      <vt:lpstr>Calibri Light</vt:lpstr>
      <vt:lpstr>Consolas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Декораторы в Python - Простое объяснение</dc:title>
  <dc:subject>PptxGenJS Presentation</dc:subject>
  <dc:creator>Пользователь</dc:creator>
  <cp:lastModifiedBy>Пользователь</cp:lastModifiedBy>
  <cp:revision>6</cp:revision>
  <dcterms:created xsi:type="dcterms:W3CDTF">2026-01-31T10:53:12Z</dcterms:created>
  <dcterms:modified xsi:type="dcterms:W3CDTF">2026-01-31T12:42:35Z</dcterms:modified>
</cp:coreProperties>
</file>